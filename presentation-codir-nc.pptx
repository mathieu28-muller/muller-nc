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déplacer la diapo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85A69FB-830A-40C0-A03B-44174345CDCB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7DBB9F-E0B7-4705-9C72-8FA56B3D6D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438B72-5EA2-48EE-A39C-1EAA1D900D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4DEC93-F8D9-4C26-A037-9027AF5F50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74E7FE-56C0-4334-A9FE-170259A4C9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22A833-88D2-4F7A-8381-ADBFE962C9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EDCB42-0DFA-4471-B560-96E2B79BBB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00A8FE-1DD2-44F3-AC1B-8852D53D6D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762347-309E-4AB6-9B7B-6B717DB2F9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4DE3B5-BB89-4EAE-AEF3-6F3E23B706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E77044-4472-43EA-83E2-391C08072A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2D184B-987D-444F-8BB8-D584963DAD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BDB722-AEB1-4EF3-A2CC-321D9D8C8A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formation-sav.fr/NC/" TargetMode="External"/><Relationship Id="rId2" Type="http://schemas.openxmlformats.org/officeDocument/2006/relationships/hyperlink" Target="https://formation-sav.fr/NC/" TargetMode="External"/><Relationship Id="rId3" Type="http://schemas.openxmlformats.org/officeDocument/2006/relationships/hyperlink" Target="https://formation-sav.fr/NC/console.html" TargetMode="External"/><Relationship Id="rId4" Type="http://schemas.openxmlformats.org/officeDocument/2006/relationships/hyperlink" Target="https://formation-sav.fr/NC/console.html" TargetMode="External"/><Relationship Id="rId5" Type="http://schemas.openxmlformats.org/officeDocument/2006/relationships/hyperlink" Target="https://formation-sav.fr/NC/login.html" TargetMode="External"/><Relationship Id="rId6" Type="http://schemas.openxmlformats.org/officeDocument/2006/relationships/hyperlink" Target="https://formation-sav.fr/NC/login.html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3493080" y="475560"/>
            <a:ext cx="594000" cy="402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3493080" y="475560"/>
            <a:ext cx="5940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160520" y="51192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AAAAA"/>
                </a:solidFill>
                <a:effectLst/>
                <a:uFillTx/>
                <a:latin typeface="Calibri"/>
              </a:rPr>
              <a:t>Muller Automotive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365760" y="1207080"/>
            <a:ext cx="841212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Système de Gestion</a:t>
            </a:r>
            <a:endParaRPr lang="fr-F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des Non-Conformités</a:t>
            </a:r>
            <a:endParaRPr lang="fr-F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4023360" y="2578680"/>
            <a:ext cx="1096920" cy="72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365760" y="28162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AAAAA"/>
                </a:solidFill>
                <a:effectLst/>
                <a:uFillTx/>
                <a:latin typeface="Calibri"/>
              </a:rPr>
              <a:t>NC Manager · Qualité · ISO 9001:2015 · LNE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365760" y="431604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Présentation CODIR — Mai 2026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3749040" y="164520"/>
            <a:ext cx="1645560" cy="2556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CONTEXTE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320040" y="548640"/>
            <a:ext cx="8503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Pourquoi une application dédiée ?</a:t>
            </a:r>
            <a:endParaRPr lang="fr-F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228600" y="1207080"/>
            <a:ext cx="4068720" cy="3657240"/>
          </a:xfrm>
          <a:prstGeom prst="rect">
            <a:avLst/>
          </a:prstGeom>
          <a:solidFill>
            <a:srgbClr val="FFF5F5"/>
          </a:solidFill>
          <a:ln w="12700">
            <a:solidFill>
              <a:srgbClr val="FCD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384120" y="12985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❌  Avant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411480" y="1618560"/>
            <a:ext cx="3702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●  Suivi des NC sur fichiers Excel dispersés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411480" y="2094120"/>
            <a:ext cx="3702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●  Aucune traçabilité des actions et délais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411480" y="2569320"/>
            <a:ext cx="3702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●  Risques élevés lors des audits ISO / LNE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411480" y="3044880"/>
            <a:ext cx="3702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●  Pas de notification automatique aux pilotes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411480" y="3520440"/>
            <a:ext cx="3702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●  Aucune statistique consolidée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411480" y="3996000"/>
            <a:ext cx="3702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●  Temps de réponse non mesurable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4846320" y="1207080"/>
            <a:ext cx="4068720" cy="3657240"/>
          </a:xfrm>
          <a:prstGeom prst="rect">
            <a:avLst/>
          </a:prstGeom>
          <a:solidFill>
            <a:srgbClr val="F0FBF6"/>
          </a:solidFill>
          <a:ln w="12700">
            <a:solidFill>
              <a:srgbClr val="A9D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5010840" y="129852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✅  Avec NC Manager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5047560" y="1618560"/>
            <a:ext cx="3702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✓  Déclaration depuis n'importe quel poste ou mobile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5047560" y="2094120"/>
            <a:ext cx="3702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✓  Traçabilité complète : qui, quoi, quand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5047560" y="2569320"/>
            <a:ext cx="3702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✓  Alertes email automatiques pilotes &amp; direction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5047560" y="3044880"/>
            <a:ext cx="3702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✓  Tableaux de bord temps réel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5047560" y="3520440"/>
            <a:ext cx="3702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✓  Rapport de revue de direction en 1 clic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5047560" y="3996000"/>
            <a:ext cx="3702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✓  Conformité ISO 9001 §8.7, §10.2 documentée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3566160" y="164520"/>
            <a:ext cx="2011320" cy="24660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APPLICATION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320040" y="567000"/>
            <a:ext cx="8503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Une solution intégrée, déployée en interne</a:t>
            </a:r>
            <a:endParaRPr lang="fr-FR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439200" y="1260000"/>
            <a:ext cx="2011320" cy="3382920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274320" y="173736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100%</a:t>
            </a:r>
            <a:endParaRPr lang="fr-F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274320" y="301752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AAAA"/>
                </a:solidFill>
                <a:effectLst/>
                <a:uFillTx/>
                <a:latin typeface="Calibri"/>
              </a:rPr>
              <a:t>Accessible webl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AAAA"/>
                </a:solidFill>
                <a:effectLst/>
                <a:uFillTx/>
                <a:latin typeface="Calibri"/>
              </a:rPr>
              <a:t>sans installation client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2450520" y="1325880"/>
            <a:ext cx="2011320" cy="3382920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2450520" y="173736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3</a:t>
            </a:r>
            <a:endParaRPr lang="fr-F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2450520" y="301752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AAAA"/>
                </a:solidFill>
                <a:effectLst/>
                <a:uFillTx/>
                <a:latin typeface="Calibri"/>
              </a:rPr>
              <a:t>Niveaux d'accès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AAAA"/>
                </a:solidFill>
                <a:effectLst/>
                <a:uFillTx/>
                <a:latin typeface="Calibri"/>
              </a:rPr>
              <a:t>Admin · Pilote · Déclarant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4626720" y="1325880"/>
            <a:ext cx="2011320" cy="3382920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9"/>
          <p:cNvSpPr/>
          <p:nvPr/>
        </p:nvSpPr>
        <p:spPr>
          <a:xfrm>
            <a:off x="4626720" y="173736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ISO</a:t>
            </a:r>
            <a:endParaRPr lang="fr-F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4626720" y="301752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AAAA"/>
                </a:solidFill>
                <a:effectLst/>
                <a:uFillTx/>
                <a:latin typeface="Calibri"/>
              </a:rPr>
              <a:t>Conforme 9001:2015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AAAA"/>
                </a:solidFill>
                <a:effectLst/>
                <a:uFillTx/>
                <a:latin typeface="Calibri"/>
              </a:rPr>
              <a:t>+ Points LNE couverts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1"/>
          <p:cNvSpPr/>
          <p:nvPr/>
        </p:nvSpPr>
        <p:spPr>
          <a:xfrm>
            <a:off x="6803280" y="1325880"/>
            <a:ext cx="2011320" cy="3382920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6803280" y="173736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 €</a:t>
            </a:r>
            <a:endParaRPr lang="fr-F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Hébergment OVH, seul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6803280" y="301752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AAAA"/>
                </a:solidFill>
                <a:effectLst/>
                <a:uFillTx/>
                <a:latin typeface="Calibri"/>
              </a:rPr>
              <a:t>Coût réduit gérer en interne 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3593520" y="164520"/>
            <a:ext cx="1956600" cy="2556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FONCTIONNEMENT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320040" y="548640"/>
            <a:ext cx="8503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Cycle de vie d'une Non-Conformité</a:t>
            </a:r>
            <a:endParaRPr lang="fr-F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868680" y="1481400"/>
            <a:ext cx="566640" cy="5666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868680" y="14814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457200" y="2176200"/>
            <a:ext cx="1389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Déclaration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457200" y="2487240"/>
            <a:ext cx="1389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Formulaire public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ou admin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1847160" y="1572840"/>
            <a:ext cx="319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→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7"/>
          <p:cNvSpPr/>
          <p:nvPr/>
        </p:nvSpPr>
        <p:spPr>
          <a:xfrm>
            <a:off x="2578680" y="1481400"/>
            <a:ext cx="566640" cy="5666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2578680" y="14814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2167200" y="2176200"/>
            <a:ext cx="1389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En traitement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0"/>
          <p:cNvSpPr/>
          <p:nvPr/>
        </p:nvSpPr>
        <p:spPr>
          <a:xfrm>
            <a:off x="2167200" y="2487240"/>
            <a:ext cx="1389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Pilote assigné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Délai fixé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3557160" y="1572840"/>
            <a:ext cx="319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→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2"/>
          <p:cNvSpPr/>
          <p:nvPr/>
        </p:nvSpPr>
        <p:spPr>
          <a:xfrm>
            <a:off x="4288680" y="1481400"/>
            <a:ext cx="566640" cy="5666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4288680" y="14814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3877200" y="2176200"/>
            <a:ext cx="1389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Résolu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3877200" y="2487240"/>
            <a:ext cx="1389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Actions CAPA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documentées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5266800" y="1572840"/>
            <a:ext cx="319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→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7"/>
          <p:cNvSpPr/>
          <p:nvPr/>
        </p:nvSpPr>
        <p:spPr>
          <a:xfrm>
            <a:off x="5998320" y="1481400"/>
            <a:ext cx="566640" cy="566640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8"/>
          <p:cNvSpPr/>
          <p:nvPr/>
        </p:nvSpPr>
        <p:spPr>
          <a:xfrm>
            <a:off x="5998320" y="14814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9"/>
          <p:cNvSpPr/>
          <p:nvPr/>
        </p:nvSpPr>
        <p:spPr>
          <a:xfrm>
            <a:off x="5586840" y="2176200"/>
            <a:ext cx="1389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Clôturé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0"/>
          <p:cNvSpPr/>
          <p:nvPr/>
        </p:nvSpPr>
        <p:spPr>
          <a:xfrm>
            <a:off x="5586840" y="2487240"/>
            <a:ext cx="1389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Preuve efficacité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archivée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1"/>
          <p:cNvSpPr/>
          <p:nvPr/>
        </p:nvSpPr>
        <p:spPr>
          <a:xfrm>
            <a:off x="6976800" y="1572840"/>
            <a:ext cx="319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→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2"/>
          <p:cNvSpPr/>
          <p:nvPr/>
        </p:nvSpPr>
        <p:spPr>
          <a:xfrm>
            <a:off x="7708320" y="1481400"/>
            <a:ext cx="566640" cy="5666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3"/>
          <p:cNvSpPr/>
          <p:nvPr/>
        </p:nvSpPr>
        <p:spPr>
          <a:xfrm>
            <a:off x="7708320" y="14814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4"/>
          <p:cNvSpPr/>
          <p:nvPr/>
        </p:nvSpPr>
        <p:spPr>
          <a:xfrm>
            <a:off x="7296840" y="2176200"/>
            <a:ext cx="1389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Revue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5"/>
          <p:cNvSpPr/>
          <p:nvPr/>
        </p:nvSpPr>
        <p:spPr>
          <a:xfrm>
            <a:off x="7296840" y="2487240"/>
            <a:ext cx="1389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Rapport CODIR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automatique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6"/>
          <p:cNvSpPr/>
          <p:nvPr/>
        </p:nvSpPr>
        <p:spPr>
          <a:xfrm>
            <a:off x="365760" y="352044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À chaque étape : notification email automatique au pilote et à la direction qualité · horodatage et traçabilité complète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/>
          <p:nvPr/>
        </p:nvSpPr>
        <p:spPr>
          <a:xfrm>
            <a:off x="3744360" y="164520"/>
            <a:ext cx="1654560" cy="2556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DÉCLARATION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"/>
          <p:cNvSpPr/>
          <p:nvPr/>
        </p:nvSpPr>
        <p:spPr>
          <a:xfrm>
            <a:off x="320040" y="548640"/>
            <a:ext cx="8503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Formulaire public — accessible à tous</a:t>
            </a:r>
            <a:endParaRPr lang="fr-F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"/>
          <p:cNvSpPr/>
          <p:nvPr/>
        </p:nvSpPr>
        <p:spPr>
          <a:xfrm>
            <a:off x="402480" y="1234440"/>
            <a:ext cx="2669760" cy="16912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402480" y="1307520"/>
            <a:ext cx="2669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🌐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511920" y="176472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Sans compte, sans installation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5"/>
          <p:cNvSpPr/>
          <p:nvPr/>
        </p:nvSpPr>
        <p:spPr>
          <a:xfrm>
            <a:off x="511920" y="2075760"/>
            <a:ext cx="2450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Accessible depuis n'importe quel navigateur sur le réseau. Techniciens, clients, fournisseurs.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6"/>
          <p:cNvSpPr/>
          <p:nvPr/>
        </p:nvSpPr>
        <p:spPr>
          <a:xfrm>
            <a:off x="3237120" y="1234440"/>
            <a:ext cx="2669760" cy="16912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3237120" y="1307520"/>
            <a:ext cx="2669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📝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8"/>
          <p:cNvSpPr/>
          <p:nvPr/>
        </p:nvSpPr>
        <p:spPr>
          <a:xfrm>
            <a:off x="3346560" y="176472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Saisie guidée pas à pas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9"/>
          <p:cNvSpPr/>
          <p:nvPr/>
        </p:nvSpPr>
        <p:spPr>
          <a:xfrm>
            <a:off x="3346560" y="2075760"/>
            <a:ext cx="2450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Aide contextuelle sur chaque champ, menus déroulants configurables, exemples intégrés.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0"/>
          <p:cNvSpPr/>
          <p:nvPr/>
        </p:nvSpPr>
        <p:spPr>
          <a:xfrm>
            <a:off x="6071760" y="1234440"/>
            <a:ext cx="2669760" cy="16912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1"/>
          <p:cNvSpPr/>
          <p:nvPr/>
        </p:nvSpPr>
        <p:spPr>
          <a:xfrm>
            <a:off x="6071760" y="1307520"/>
            <a:ext cx="2669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📸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2"/>
          <p:cNvSpPr/>
          <p:nvPr/>
        </p:nvSpPr>
        <p:spPr>
          <a:xfrm>
            <a:off x="6181200" y="176472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Photos &amp; vidéos jointes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3"/>
          <p:cNvSpPr/>
          <p:nvPr/>
        </p:nvSpPr>
        <p:spPr>
          <a:xfrm>
            <a:off x="6181200" y="2075760"/>
            <a:ext cx="2450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Dépôt de pièces jointes directement depuis le formulaire — photos, vidéos, documents PDF.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4"/>
          <p:cNvSpPr/>
          <p:nvPr/>
        </p:nvSpPr>
        <p:spPr>
          <a:xfrm>
            <a:off x="402480" y="3090600"/>
            <a:ext cx="2669760" cy="16912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5"/>
          <p:cNvSpPr/>
          <p:nvPr/>
        </p:nvSpPr>
        <p:spPr>
          <a:xfrm>
            <a:off x="402480" y="3163680"/>
            <a:ext cx="2669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🔢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6"/>
          <p:cNvSpPr/>
          <p:nvPr/>
        </p:nvSpPr>
        <p:spPr>
          <a:xfrm>
            <a:off x="511920" y="362088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Numéro de suivi immédiat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7"/>
          <p:cNvSpPr/>
          <p:nvPr/>
        </p:nvSpPr>
        <p:spPr>
          <a:xfrm>
            <a:off x="511920" y="3931920"/>
            <a:ext cx="2450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Numéro NC généré automatiquement et envoyé par email au déclarant à la soumission.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8"/>
          <p:cNvSpPr/>
          <p:nvPr/>
        </p:nvSpPr>
        <p:spPr>
          <a:xfrm>
            <a:off x="3237120" y="3090600"/>
            <a:ext cx="2669760" cy="16912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9"/>
          <p:cNvSpPr/>
          <p:nvPr/>
        </p:nvSpPr>
        <p:spPr>
          <a:xfrm>
            <a:off x="3237120" y="3163680"/>
            <a:ext cx="2669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🔍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0"/>
          <p:cNvSpPr/>
          <p:nvPr/>
        </p:nvSpPr>
        <p:spPr>
          <a:xfrm>
            <a:off x="3346560" y="362088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Suivi en temps réel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1"/>
          <p:cNvSpPr/>
          <p:nvPr/>
        </p:nvSpPr>
        <p:spPr>
          <a:xfrm>
            <a:off x="3346560" y="3931920"/>
            <a:ext cx="2450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Le déclarant peut consulter l'avancement de sa NC à tout moment avec son numéro.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2"/>
          <p:cNvSpPr/>
          <p:nvPr/>
        </p:nvSpPr>
        <p:spPr>
          <a:xfrm>
            <a:off x="6071760" y="3090600"/>
            <a:ext cx="2669760" cy="16912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3"/>
          <p:cNvSpPr/>
          <p:nvPr/>
        </p:nvSpPr>
        <p:spPr>
          <a:xfrm>
            <a:off x="6071760" y="3163680"/>
            <a:ext cx="2669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❓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4"/>
          <p:cNvSpPr/>
          <p:nvPr/>
        </p:nvSpPr>
        <p:spPr>
          <a:xfrm>
            <a:off x="6181200" y="362088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Aide intégrée novices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5"/>
          <p:cNvSpPr/>
          <p:nvPr/>
        </p:nvSpPr>
        <p:spPr>
          <a:xfrm>
            <a:off x="6181200" y="3931920"/>
            <a:ext cx="2450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Bouton "Aide formulaire" avec explications simples pour les déclarants non formés.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3593520" y="164520"/>
            <a:ext cx="1956600" cy="2556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ADMINISTRATION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320040" y="548640"/>
            <a:ext cx="8503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Console administrateur — pilotage complet</a:t>
            </a:r>
            <a:endParaRPr lang="fr-F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"/>
          <p:cNvSpPr/>
          <p:nvPr/>
        </p:nvSpPr>
        <p:spPr>
          <a:xfrm>
            <a:off x="402480" y="1234440"/>
            <a:ext cx="2669760" cy="16912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402480" y="1307520"/>
            <a:ext cx="2669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📊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511920" y="176472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Tableau de bord temps réel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5"/>
          <p:cNvSpPr/>
          <p:nvPr/>
        </p:nvSpPr>
        <p:spPr>
          <a:xfrm>
            <a:off x="511920" y="2075760"/>
            <a:ext cx="2450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Compteurs par statut, graphiques mensuels, alertes retard, statistiques par périmètre.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6"/>
          <p:cNvSpPr/>
          <p:nvPr/>
        </p:nvSpPr>
        <p:spPr>
          <a:xfrm>
            <a:off x="3237120" y="1234440"/>
            <a:ext cx="2669760" cy="16912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3237120" y="1307520"/>
            <a:ext cx="2669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🔎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8"/>
          <p:cNvSpPr/>
          <p:nvPr/>
        </p:nvSpPr>
        <p:spPr>
          <a:xfrm>
            <a:off x="3346560" y="176472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Filtres &amp; tri avancés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9"/>
          <p:cNvSpPr/>
          <p:nvPr/>
        </p:nvSpPr>
        <p:spPr>
          <a:xfrm>
            <a:off x="3346560" y="2075760"/>
            <a:ext cx="2450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Recherche par NC, filtre par statut, pilote, année, source. Colonnes personnalisables.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0"/>
          <p:cNvSpPr/>
          <p:nvPr/>
        </p:nvSpPr>
        <p:spPr>
          <a:xfrm>
            <a:off x="6071760" y="1234440"/>
            <a:ext cx="2669760" cy="16912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6071760" y="1307520"/>
            <a:ext cx="2669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👥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2"/>
          <p:cNvSpPr/>
          <p:nvPr/>
        </p:nvSpPr>
        <p:spPr>
          <a:xfrm>
            <a:off x="6181200" y="176472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Gestion des utilisateurs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3"/>
          <p:cNvSpPr/>
          <p:nvPr/>
        </p:nvSpPr>
        <p:spPr>
          <a:xfrm>
            <a:off x="6181200" y="2075760"/>
            <a:ext cx="2450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Création de comptes pilotes, chefs produit, admins. Notifications email ciblées par rôle.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4"/>
          <p:cNvSpPr/>
          <p:nvPr/>
        </p:nvSpPr>
        <p:spPr>
          <a:xfrm>
            <a:off x="402480" y="3090600"/>
            <a:ext cx="2669760" cy="16912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5"/>
          <p:cNvSpPr/>
          <p:nvPr/>
        </p:nvSpPr>
        <p:spPr>
          <a:xfrm>
            <a:off x="402480" y="3163680"/>
            <a:ext cx="2669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⚡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6"/>
          <p:cNvSpPr/>
          <p:nvPr/>
        </p:nvSpPr>
        <p:spPr>
          <a:xfrm>
            <a:off x="511920" y="362088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Gravité &amp; score de risque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7"/>
          <p:cNvSpPr/>
          <p:nvPr/>
        </p:nvSpPr>
        <p:spPr>
          <a:xfrm>
            <a:off x="511920" y="3931920"/>
            <a:ext cx="2450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Cotation sur 4 axes (impact client, conformité, sécurité, récurrence). Score 1-9 automatique.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8"/>
          <p:cNvSpPr/>
          <p:nvPr/>
        </p:nvSpPr>
        <p:spPr>
          <a:xfrm>
            <a:off x="3237120" y="3090600"/>
            <a:ext cx="2669760" cy="16912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9"/>
          <p:cNvSpPr/>
          <p:nvPr/>
        </p:nvSpPr>
        <p:spPr>
          <a:xfrm>
            <a:off x="3237120" y="3163680"/>
            <a:ext cx="2669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🔬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0"/>
          <p:cNvSpPr/>
          <p:nvPr/>
        </p:nvSpPr>
        <p:spPr>
          <a:xfrm>
            <a:off x="3346560" y="362088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Analyse 5 Pourquoi &amp; Ishikawa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1"/>
          <p:cNvSpPr/>
          <p:nvPr/>
        </p:nvSpPr>
        <p:spPr>
          <a:xfrm>
            <a:off x="3346560" y="3931920"/>
            <a:ext cx="2450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Outils d'analyse causale intégrés directement dans la fiche NC. Cause racine tracée.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2"/>
          <p:cNvSpPr/>
          <p:nvPr/>
        </p:nvSpPr>
        <p:spPr>
          <a:xfrm>
            <a:off x="6071760" y="3090600"/>
            <a:ext cx="2669760" cy="16912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3"/>
          <p:cNvSpPr/>
          <p:nvPr/>
        </p:nvSpPr>
        <p:spPr>
          <a:xfrm>
            <a:off x="6071760" y="3163680"/>
            <a:ext cx="2669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📋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4"/>
          <p:cNvSpPr/>
          <p:nvPr/>
        </p:nvSpPr>
        <p:spPr>
          <a:xfrm>
            <a:off x="6181200" y="362088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Actions CAPA complètes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5"/>
          <p:cNvSpPr/>
          <p:nvPr/>
        </p:nvSpPr>
        <p:spPr>
          <a:xfrm>
            <a:off x="6181200" y="3931920"/>
            <a:ext cx="2450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3 types d'actions (immédiate, corrective, préventive) avec responsable, délai et preuve.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/>
          <p:nvPr/>
        </p:nvSpPr>
        <p:spPr>
          <a:xfrm>
            <a:off x="3493080" y="164520"/>
            <a:ext cx="2157480" cy="2556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PILOTAGE QUALITÉ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320040" y="548640"/>
            <a:ext cx="8503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Indicateurs qualité &amp; rapport de direction</a:t>
            </a:r>
            <a:endParaRPr lang="fr-F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365760" y="12985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●  Taux de récurrence — alerte si même défaut &gt; 2× en 6 mois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"/>
          <p:cNvSpPr/>
          <p:nvPr/>
        </p:nvSpPr>
        <p:spPr>
          <a:xfrm>
            <a:off x="365760" y="18014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●  Taux d'efficacité CAPA — % NC clôturées sans réouverture · cible ≥ 85 %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4"/>
          <p:cNvSpPr/>
          <p:nvPr/>
        </p:nvSpPr>
        <p:spPr>
          <a:xfrm>
            <a:off x="365760" y="23043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●  Coût de non-qualité (€) — rebut, retouche, SAV · cumulé par an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5"/>
          <p:cNvSpPr/>
          <p:nvPr/>
        </p:nvSpPr>
        <p:spPr>
          <a:xfrm>
            <a:off x="365760" y="28072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●  Délai moyen de traitement — par statut, par pilote, par périmètre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6"/>
          <p:cNvSpPr/>
          <p:nvPr/>
        </p:nvSpPr>
        <p:spPr>
          <a:xfrm>
            <a:off x="365760" y="33102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●  Respect des échéances — actions en retard signalées en rouge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7"/>
          <p:cNvSpPr/>
          <p:nvPr/>
        </p:nvSpPr>
        <p:spPr>
          <a:xfrm>
            <a:off x="365760" y="38131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●  Pareto causes — familles les plus fréquentes identifiées automatiquement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8"/>
          <p:cNvSpPr/>
          <p:nvPr/>
        </p:nvSpPr>
        <p:spPr>
          <a:xfrm>
            <a:off x="5303520" y="1207080"/>
            <a:ext cx="3520080" cy="35658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9"/>
          <p:cNvSpPr/>
          <p:nvPr/>
        </p:nvSpPr>
        <p:spPr>
          <a:xfrm>
            <a:off x="5440680" y="131688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📋  Rapport revue de direction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0"/>
          <p:cNvSpPr/>
          <p:nvPr/>
        </p:nvSpPr>
        <p:spPr>
          <a:xfrm>
            <a:off x="5440680" y="1719000"/>
            <a:ext cx="3245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✓  Généré en 1 clic depuis l'onglet Archives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1"/>
          <p:cNvSpPr/>
          <p:nvPr/>
        </p:nvSpPr>
        <p:spPr>
          <a:xfrm>
            <a:off x="5440680" y="2249280"/>
            <a:ext cx="3245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✓  Toutes les NC de l'année synthétisées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2"/>
          <p:cNvSpPr/>
          <p:nvPr/>
        </p:nvSpPr>
        <p:spPr>
          <a:xfrm>
            <a:off x="5440680" y="2779920"/>
            <a:ext cx="3245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✓  KPI consolidés prêts pour le CODIR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3"/>
          <p:cNvSpPr/>
          <p:nvPr/>
        </p:nvSpPr>
        <p:spPr>
          <a:xfrm>
            <a:off x="5440680" y="3310200"/>
            <a:ext cx="3245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✓  Imprimable ou exportable PDF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4"/>
          <p:cNvSpPr/>
          <p:nvPr/>
        </p:nvSpPr>
        <p:spPr>
          <a:xfrm>
            <a:off x="5440680" y="3840480"/>
            <a:ext cx="3245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✓  Preuve documentée §9.3 ISO 9001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3749040" y="164520"/>
            <a:ext cx="1645560" cy="2556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CONFORMITÉ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320040" y="548640"/>
            <a:ext cx="8503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Couverture ISO 9001:2015 &amp; LNE</a:t>
            </a:r>
            <a:endParaRPr lang="fr-F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"/>
          <p:cNvSpPr/>
          <p:nvPr/>
        </p:nvSpPr>
        <p:spPr>
          <a:xfrm>
            <a:off x="457200" y="1234440"/>
            <a:ext cx="3977280" cy="6213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"/>
          <p:cNvSpPr/>
          <p:nvPr/>
        </p:nvSpPr>
        <p:spPr>
          <a:xfrm>
            <a:off x="548640" y="1325880"/>
            <a:ext cx="273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877680" y="1325880"/>
            <a:ext cx="804240" cy="237240"/>
          </a:xfrm>
          <a:prstGeom prst="rect">
            <a:avLst/>
          </a:prstGeom>
          <a:solidFill>
            <a:srgbClr val="E8F0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C447C"/>
                </a:solidFill>
                <a:effectLst/>
                <a:uFillTx/>
                <a:latin typeface="Calibri"/>
              </a:rPr>
              <a:t>§ 8.7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1774080" y="12891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Maîtrise des NC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1774080" y="156348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Identification, traçabilité, décision documentée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7"/>
          <p:cNvSpPr/>
          <p:nvPr/>
        </p:nvSpPr>
        <p:spPr>
          <a:xfrm>
            <a:off x="4709160" y="1234440"/>
            <a:ext cx="3977280" cy="6213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4800600" y="1325880"/>
            <a:ext cx="273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9"/>
          <p:cNvSpPr/>
          <p:nvPr/>
        </p:nvSpPr>
        <p:spPr>
          <a:xfrm>
            <a:off x="5129640" y="1325880"/>
            <a:ext cx="804240" cy="237240"/>
          </a:xfrm>
          <a:prstGeom prst="rect">
            <a:avLst/>
          </a:prstGeom>
          <a:solidFill>
            <a:srgbClr val="E8F0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C447C"/>
                </a:solidFill>
                <a:effectLst/>
                <a:uFillTx/>
                <a:latin typeface="Calibri"/>
              </a:rPr>
              <a:t>§ 10.2.1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0"/>
          <p:cNvSpPr/>
          <p:nvPr/>
        </p:nvSpPr>
        <p:spPr>
          <a:xfrm>
            <a:off x="6026040" y="12891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Actions correctives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1"/>
          <p:cNvSpPr/>
          <p:nvPr/>
        </p:nvSpPr>
        <p:spPr>
          <a:xfrm>
            <a:off x="6026040" y="156348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5 Pourquoi, CAPA 3 types, preuve d'efficacité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2"/>
          <p:cNvSpPr/>
          <p:nvPr/>
        </p:nvSpPr>
        <p:spPr>
          <a:xfrm>
            <a:off x="457200" y="1947600"/>
            <a:ext cx="3977280" cy="6213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3"/>
          <p:cNvSpPr/>
          <p:nvPr/>
        </p:nvSpPr>
        <p:spPr>
          <a:xfrm>
            <a:off x="548640" y="2039040"/>
            <a:ext cx="273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4"/>
          <p:cNvSpPr/>
          <p:nvPr/>
        </p:nvSpPr>
        <p:spPr>
          <a:xfrm>
            <a:off x="877680" y="2039040"/>
            <a:ext cx="804240" cy="237240"/>
          </a:xfrm>
          <a:prstGeom prst="rect">
            <a:avLst/>
          </a:prstGeom>
          <a:solidFill>
            <a:srgbClr val="E8F0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C447C"/>
                </a:solidFill>
                <a:effectLst/>
                <a:uFillTx/>
                <a:latin typeface="Calibri"/>
              </a:rPr>
              <a:t>§ 10.2.2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1774080" y="20026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Informations documentées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6"/>
          <p:cNvSpPr/>
          <p:nvPr/>
        </p:nvSpPr>
        <p:spPr>
          <a:xfrm>
            <a:off x="1774080" y="227700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Journal immuable, horodatage, archivage complet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7"/>
          <p:cNvSpPr/>
          <p:nvPr/>
        </p:nvSpPr>
        <p:spPr>
          <a:xfrm>
            <a:off x="4709160" y="1947600"/>
            <a:ext cx="3977280" cy="6213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8"/>
          <p:cNvSpPr/>
          <p:nvPr/>
        </p:nvSpPr>
        <p:spPr>
          <a:xfrm>
            <a:off x="4800600" y="2039040"/>
            <a:ext cx="273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9"/>
          <p:cNvSpPr/>
          <p:nvPr/>
        </p:nvSpPr>
        <p:spPr>
          <a:xfrm>
            <a:off x="5129640" y="2039040"/>
            <a:ext cx="804240" cy="237240"/>
          </a:xfrm>
          <a:prstGeom prst="rect">
            <a:avLst/>
          </a:prstGeom>
          <a:solidFill>
            <a:srgbClr val="E8F0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C447C"/>
                </a:solidFill>
                <a:effectLst/>
                <a:uFillTx/>
                <a:latin typeface="Calibri"/>
              </a:rPr>
              <a:t>§ 9.3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0"/>
          <p:cNvSpPr/>
          <p:nvPr/>
        </p:nvSpPr>
        <p:spPr>
          <a:xfrm>
            <a:off x="6026040" y="20026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Revue de direction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1"/>
          <p:cNvSpPr/>
          <p:nvPr/>
        </p:nvSpPr>
        <p:spPr>
          <a:xfrm>
            <a:off x="6026040" y="227700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Rapport automatique avec tous les indicateurs requis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2"/>
          <p:cNvSpPr/>
          <p:nvPr/>
        </p:nvSpPr>
        <p:spPr>
          <a:xfrm>
            <a:off x="457200" y="2660760"/>
            <a:ext cx="3977280" cy="6213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3"/>
          <p:cNvSpPr/>
          <p:nvPr/>
        </p:nvSpPr>
        <p:spPr>
          <a:xfrm>
            <a:off x="548640" y="2752200"/>
            <a:ext cx="273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4"/>
          <p:cNvSpPr/>
          <p:nvPr/>
        </p:nvSpPr>
        <p:spPr>
          <a:xfrm>
            <a:off x="877680" y="2752200"/>
            <a:ext cx="804240" cy="237240"/>
          </a:xfrm>
          <a:prstGeom prst="rect">
            <a:avLst/>
          </a:prstGeom>
          <a:solidFill>
            <a:srgbClr val="E8F0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C447C"/>
                </a:solidFill>
                <a:effectLst/>
                <a:uFillTx/>
                <a:latin typeface="Calibri"/>
              </a:rPr>
              <a:t>§ 6.1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5"/>
          <p:cNvSpPr/>
          <p:nvPr/>
        </p:nvSpPr>
        <p:spPr>
          <a:xfrm>
            <a:off x="1774080" y="27158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Gestion des risques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6"/>
          <p:cNvSpPr/>
          <p:nvPr/>
        </p:nvSpPr>
        <p:spPr>
          <a:xfrm>
            <a:off x="1774080" y="29901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Score de risque sur 4 axes, alerte direction ≥ 7/9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7"/>
          <p:cNvSpPr/>
          <p:nvPr/>
        </p:nvSpPr>
        <p:spPr>
          <a:xfrm>
            <a:off x="4709160" y="2660760"/>
            <a:ext cx="3977280" cy="6213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8"/>
          <p:cNvSpPr/>
          <p:nvPr/>
        </p:nvSpPr>
        <p:spPr>
          <a:xfrm>
            <a:off x="4800600" y="2752200"/>
            <a:ext cx="273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9"/>
          <p:cNvSpPr/>
          <p:nvPr/>
        </p:nvSpPr>
        <p:spPr>
          <a:xfrm>
            <a:off x="5129640" y="2752200"/>
            <a:ext cx="804240" cy="237240"/>
          </a:xfrm>
          <a:prstGeom prst="rect">
            <a:avLst/>
          </a:prstGeom>
          <a:solidFill>
            <a:srgbClr val="D1E7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A3622"/>
                </a:solidFill>
                <a:effectLst/>
                <a:uFillTx/>
                <a:latin typeface="Calibri"/>
              </a:rPr>
              <a:t>LNE-1/2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0"/>
          <p:cNvSpPr/>
          <p:nvPr/>
        </p:nvSpPr>
        <p:spPr>
          <a:xfrm>
            <a:off x="6026040" y="27158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Points LNE bloquants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1"/>
          <p:cNvSpPr/>
          <p:nvPr/>
        </p:nvSpPr>
        <p:spPr>
          <a:xfrm>
            <a:off x="6026040" y="29901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Cause racine démontrée, preuve efficacité tangible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2"/>
          <p:cNvSpPr/>
          <p:nvPr/>
        </p:nvSpPr>
        <p:spPr>
          <a:xfrm>
            <a:off x="457200" y="3374280"/>
            <a:ext cx="3977280" cy="6213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3"/>
          <p:cNvSpPr/>
          <p:nvPr/>
        </p:nvSpPr>
        <p:spPr>
          <a:xfrm>
            <a:off x="548640" y="3465720"/>
            <a:ext cx="273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4"/>
          <p:cNvSpPr/>
          <p:nvPr/>
        </p:nvSpPr>
        <p:spPr>
          <a:xfrm>
            <a:off x="877680" y="3465720"/>
            <a:ext cx="804240" cy="237240"/>
          </a:xfrm>
          <a:prstGeom prst="rect">
            <a:avLst/>
          </a:prstGeom>
          <a:solidFill>
            <a:srgbClr val="E8F0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C447C"/>
                </a:solidFill>
                <a:effectLst/>
                <a:uFillTx/>
                <a:latin typeface="Calibri"/>
              </a:rPr>
              <a:t>§ 9.1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5"/>
          <p:cNvSpPr/>
          <p:nvPr/>
        </p:nvSpPr>
        <p:spPr>
          <a:xfrm>
            <a:off x="1774080" y="34290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Surveillance &amp; mesure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6"/>
          <p:cNvSpPr/>
          <p:nvPr/>
        </p:nvSpPr>
        <p:spPr>
          <a:xfrm>
            <a:off x="1774080" y="37033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KPI récurrence, délai, coût qualité, efficacité CAPA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7"/>
          <p:cNvSpPr/>
          <p:nvPr/>
        </p:nvSpPr>
        <p:spPr>
          <a:xfrm>
            <a:off x="4709160" y="3374280"/>
            <a:ext cx="3977280" cy="6213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8"/>
          <p:cNvSpPr/>
          <p:nvPr/>
        </p:nvSpPr>
        <p:spPr>
          <a:xfrm>
            <a:off x="4800600" y="3465720"/>
            <a:ext cx="273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9"/>
          <p:cNvSpPr/>
          <p:nvPr/>
        </p:nvSpPr>
        <p:spPr>
          <a:xfrm>
            <a:off x="5129640" y="3465720"/>
            <a:ext cx="804240" cy="237240"/>
          </a:xfrm>
          <a:prstGeom prst="rect">
            <a:avLst/>
          </a:prstGeom>
          <a:solidFill>
            <a:srgbClr val="E8F0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C447C"/>
                </a:solidFill>
                <a:effectLst/>
                <a:uFillTx/>
                <a:latin typeface="Calibri"/>
              </a:rPr>
              <a:t>§ 8.2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0"/>
          <p:cNvSpPr/>
          <p:nvPr/>
        </p:nvSpPr>
        <p:spPr>
          <a:xfrm>
            <a:off x="6026040" y="34290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Communication client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41"/>
          <p:cNvSpPr/>
          <p:nvPr/>
        </p:nvSpPr>
        <p:spPr>
          <a:xfrm>
            <a:off x="6026040" y="37033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Retour client tracé, satisfaction confirmée à la clôture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/>
          <p:nvPr/>
        </p:nvSpPr>
        <p:spPr>
          <a:xfrm>
            <a:off x="3749040" y="164520"/>
            <a:ext cx="1645560" cy="2556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BÉNÉFICES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"/>
          <p:cNvSpPr/>
          <p:nvPr/>
        </p:nvSpPr>
        <p:spPr>
          <a:xfrm>
            <a:off x="320040" y="548640"/>
            <a:ext cx="8503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Ce que ça change concrètement</a:t>
            </a:r>
            <a:endParaRPr lang="fr-F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"/>
          <p:cNvSpPr/>
          <p:nvPr/>
        </p:nvSpPr>
        <p:spPr>
          <a:xfrm>
            <a:off x="457200" y="1234440"/>
            <a:ext cx="39772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548640" y="1613880"/>
            <a:ext cx="548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⏱️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4"/>
          <p:cNvSpPr/>
          <p:nvPr/>
        </p:nvSpPr>
        <p:spPr>
          <a:xfrm>
            <a:off x="1207080" y="1380600"/>
            <a:ext cx="3062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Gain de temps administratif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5"/>
          <p:cNvSpPr/>
          <p:nvPr/>
        </p:nvSpPr>
        <p:spPr>
          <a:xfrm>
            <a:off x="1207080" y="169164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Plus de fichiers Excel à consolider. Toutes les NC centralisées, filtrables et exportables en temps réel.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6"/>
          <p:cNvSpPr/>
          <p:nvPr/>
        </p:nvSpPr>
        <p:spPr>
          <a:xfrm>
            <a:off x="4709160" y="1234440"/>
            <a:ext cx="39772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7"/>
          <p:cNvSpPr/>
          <p:nvPr/>
        </p:nvSpPr>
        <p:spPr>
          <a:xfrm>
            <a:off x="4800600" y="1613880"/>
            <a:ext cx="548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🔔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8"/>
          <p:cNvSpPr/>
          <p:nvPr/>
        </p:nvSpPr>
        <p:spPr>
          <a:xfrm>
            <a:off x="5459040" y="1380600"/>
            <a:ext cx="3062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Zéro NC oubliée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9"/>
          <p:cNvSpPr/>
          <p:nvPr/>
        </p:nvSpPr>
        <p:spPr>
          <a:xfrm>
            <a:off x="5459040" y="169164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Alertes email automatiques au pilote dès affectation, et à la direction si dépassement d'échéance.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0"/>
          <p:cNvSpPr/>
          <p:nvPr/>
        </p:nvSpPr>
        <p:spPr>
          <a:xfrm>
            <a:off x="457200" y="2633400"/>
            <a:ext cx="39772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1"/>
          <p:cNvSpPr/>
          <p:nvPr/>
        </p:nvSpPr>
        <p:spPr>
          <a:xfrm>
            <a:off x="548640" y="3012840"/>
            <a:ext cx="548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🏆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2"/>
          <p:cNvSpPr/>
          <p:nvPr/>
        </p:nvSpPr>
        <p:spPr>
          <a:xfrm>
            <a:off x="1207080" y="2779920"/>
            <a:ext cx="3062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Audit ISO serein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3"/>
          <p:cNvSpPr/>
          <p:nvPr/>
        </p:nvSpPr>
        <p:spPr>
          <a:xfrm>
            <a:off x="1207080" y="309060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Toutes les preuves documentées : historique immuable, causes racines, actions et efficacité.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4"/>
          <p:cNvSpPr/>
          <p:nvPr/>
        </p:nvSpPr>
        <p:spPr>
          <a:xfrm>
            <a:off x="4709160" y="2633400"/>
            <a:ext cx="39772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5"/>
          <p:cNvSpPr/>
          <p:nvPr/>
        </p:nvSpPr>
        <p:spPr>
          <a:xfrm>
            <a:off x="4800600" y="3012840"/>
            <a:ext cx="548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💻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6"/>
          <p:cNvSpPr/>
          <p:nvPr/>
        </p:nvSpPr>
        <p:spPr>
          <a:xfrm>
            <a:off x="5459040" y="2779920"/>
            <a:ext cx="3062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Zéro dépendance externe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7"/>
          <p:cNvSpPr/>
          <p:nvPr/>
        </p:nvSpPr>
        <p:spPr>
          <a:xfrm>
            <a:off x="5459040" y="309060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Hébergé sur nos serveurs, données 100 % locales. Aucun abonnement cloud, aucune donnée partagée.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8"/>
          <p:cNvSpPr/>
          <p:nvPr/>
        </p:nvSpPr>
        <p:spPr>
          <a:xfrm>
            <a:off x="457200" y="4032360"/>
            <a:ext cx="39772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9"/>
          <p:cNvSpPr/>
          <p:nvPr/>
        </p:nvSpPr>
        <p:spPr>
          <a:xfrm>
            <a:off x="548640" y="4412160"/>
            <a:ext cx="548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📱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0"/>
          <p:cNvSpPr/>
          <p:nvPr/>
        </p:nvSpPr>
        <p:spPr>
          <a:xfrm>
            <a:off x="1207080" y="4178880"/>
            <a:ext cx="3062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Accessible partout sur le réseau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1"/>
          <p:cNvSpPr/>
          <p:nvPr/>
        </p:nvSpPr>
        <p:spPr>
          <a:xfrm>
            <a:off x="1207080" y="448956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Depuis un PC, une tablette ou un smartphone sur le réseau interne. Aucune installation requise.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2"/>
          <p:cNvSpPr/>
          <p:nvPr/>
        </p:nvSpPr>
        <p:spPr>
          <a:xfrm>
            <a:off x="4709160" y="4032360"/>
            <a:ext cx="39772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3"/>
          <p:cNvSpPr/>
          <p:nvPr/>
        </p:nvSpPr>
        <p:spPr>
          <a:xfrm>
            <a:off x="4800600" y="4412160"/>
            <a:ext cx="548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📈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4"/>
          <p:cNvSpPr/>
          <p:nvPr/>
        </p:nvSpPr>
        <p:spPr>
          <a:xfrm>
            <a:off x="5459040" y="4178880"/>
            <a:ext cx="3062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Amélioration continue mesurée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5"/>
          <p:cNvSpPr/>
          <p:nvPr/>
        </p:nvSpPr>
        <p:spPr>
          <a:xfrm>
            <a:off x="5459040" y="448956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Taux de récurrence, efficacité CAPA, coût qualité — la preuve chiffrée que le système s'améliore.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3593520" y="164520"/>
            <a:ext cx="1956600" cy="2556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INFRASTRUCTURE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320040" y="548640"/>
            <a:ext cx="8503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Hébergement — Cloud OVH vs NAS Interne</a:t>
            </a:r>
            <a:endParaRPr lang="fr-F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"/>
          <p:cNvSpPr/>
          <p:nvPr/>
        </p:nvSpPr>
        <p:spPr>
          <a:xfrm>
            <a:off x="228600" y="1207080"/>
            <a:ext cx="4068720" cy="3520080"/>
          </a:xfrm>
          <a:prstGeom prst="rect">
            <a:avLst/>
          </a:prstGeom>
          <a:solidFill>
            <a:srgbClr val="F0FBF6"/>
          </a:solidFill>
          <a:ln w="12700">
            <a:solidFill>
              <a:srgbClr val="A9D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"/>
          <p:cNvSpPr/>
          <p:nvPr/>
        </p:nvSpPr>
        <p:spPr>
          <a:xfrm>
            <a:off x="384120" y="129852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✅  Cloud OVH — Solution actuelle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4"/>
          <p:cNvSpPr/>
          <p:nvPr/>
        </p:nvSpPr>
        <p:spPr>
          <a:xfrm>
            <a:off x="384120" y="160920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~80 – 135 €/an HT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384120" y="2048400"/>
            <a:ext cx="3767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✓  URL HTTPS directe — accessible partout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6"/>
          <p:cNvSpPr/>
          <p:nvPr/>
        </p:nvSpPr>
        <p:spPr>
          <a:xfrm>
            <a:off x="384120" y="2487240"/>
            <a:ext cx="3767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✓  Accès clients &amp; partenaires sans VPN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7"/>
          <p:cNvSpPr/>
          <p:nvPr/>
        </p:nvSpPr>
        <p:spPr>
          <a:xfrm>
            <a:off x="384120" y="2926080"/>
            <a:ext cx="3767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✓  0 € acquisition — aucun matériel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8"/>
          <p:cNvSpPr/>
          <p:nvPr/>
        </p:nvSpPr>
        <p:spPr>
          <a:xfrm>
            <a:off x="384120" y="3364920"/>
            <a:ext cx="3767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✓  Certificat SSL automatique inclus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9"/>
          <p:cNvSpPr/>
          <p:nvPr/>
        </p:nvSpPr>
        <p:spPr>
          <a:xfrm>
            <a:off x="384120" y="3803760"/>
            <a:ext cx="3767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✓  Datacenter France · RGPD ✓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0"/>
          <p:cNvSpPr/>
          <p:nvPr/>
        </p:nvSpPr>
        <p:spPr>
          <a:xfrm>
            <a:off x="384120" y="4242960"/>
            <a:ext cx="3767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8449"/>
                </a:solidFill>
                <a:effectLst/>
                <a:uFillTx/>
                <a:latin typeface="Calibri"/>
              </a:rPr>
              <a:t>✓  SLA 99,9 % — matériel géré OVH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1"/>
          <p:cNvSpPr/>
          <p:nvPr/>
        </p:nvSpPr>
        <p:spPr>
          <a:xfrm>
            <a:off x="4846320" y="1207080"/>
            <a:ext cx="4068720" cy="3520080"/>
          </a:xfrm>
          <a:prstGeom prst="rect">
            <a:avLst/>
          </a:prstGeom>
          <a:solidFill>
            <a:srgbClr val="FFF8F0"/>
          </a:solidFill>
          <a:ln w="12700">
            <a:solidFill>
              <a:srgbClr val="F5CB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2"/>
          <p:cNvSpPr/>
          <p:nvPr/>
        </p:nvSpPr>
        <p:spPr>
          <a:xfrm>
            <a:off x="5010840" y="129852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35400"/>
                </a:solidFill>
                <a:effectLst/>
                <a:uFillTx/>
                <a:latin typeface="Calibri"/>
              </a:rPr>
              <a:t>NAS Interne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3"/>
          <p:cNvSpPr/>
          <p:nvPr/>
        </p:nvSpPr>
        <p:spPr>
          <a:xfrm>
            <a:off x="5010840" y="160920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35400"/>
                </a:solidFill>
                <a:effectLst/>
                <a:uFillTx/>
                <a:latin typeface="Calibri"/>
              </a:rPr>
              <a:t>~700 – 1 100 € 1re année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4"/>
          <p:cNvSpPr/>
          <p:nvPr/>
        </p:nvSpPr>
        <p:spPr>
          <a:xfrm>
            <a:off x="5047560" y="2048400"/>
            <a:ext cx="3767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✗  Accès externe : VPN ou IP fixe requis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5"/>
          <p:cNvSpPr/>
          <p:nvPr/>
        </p:nvSpPr>
        <p:spPr>
          <a:xfrm>
            <a:off x="5047560" y="2487240"/>
            <a:ext cx="3767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✗  Acquisition NAS + disques (350–500 €)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6"/>
          <p:cNvSpPr/>
          <p:nvPr/>
        </p:nvSpPr>
        <p:spPr>
          <a:xfrm>
            <a:off x="5047560" y="2926080"/>
            <a:ext cx="3767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✗  Panne = intervention physique sur site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7"/>
          <p:cNvSpPr/>
          <p:nvPr/>
        </p:nvSpPr>
        <p:spPr>
          <a:xfrm>
            <a:off x="5047560" y="3364920"/>
            <a:ext cx="3767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✗  Mise en service 4–8 h (réseau)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8"/>
          <p:cNvSpPr/>
          <p:nvPr/>
        </p:nvSpPr>
        <p:spPr>
          <a:xfrm>
            <a:off x="5047560" y="3803760"/>
            <a:ext cx="3767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✓  Données 100 % sur site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9"/>
          <p:cNvSpPr/>
          <p:nvPr/>
        </p:nvSpPr>
        <p:spPr>
          <a:xfrm>
            <a:off x="5047560" y="4242960"/>
            <a:ext cx="3767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→  Récurrent : ~150–280 €/an HT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0"/>
          <p:cNvSpPr/>
          <p:nvPr/>
        </p:nvSpPr>
        <p:spPr>
          <a:xfrm>
            <a:off x="228600" y="4773240"/>
            <a:ext cx="8686440" cy="255600"/>
          </a:xfrm>
          <a:prstGeom prst="rect">
            <a:avLst/>
          </a:prstGeom>
          <a:solidFill>
            <a:srgbClr val="D5F5E3"/>
          </a:solidFill>
          <a:ln w="12700">
            <a:solidFill>
              <a:srgbClr val="A9D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1"/>
          <p:cNvSpPr/>
          <p:nvPr/>
        </p:nvSpPr>
        <p:spPr>
          <a:xfrm>
            <a:off x="365760" y="477324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5C35"/>
                </a:solidFill>
                <a:effectLst/>
                <a:uFillTx/>
                <a:latin typeface="Calibri"/>
              </a:rPr>
              <a:t>Recommandation : OVH Cloud — coût total inférieur sur 3 ans, accès URL direct pour clients, zéro matériel à maintenir.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0"/>
          <p:cNvSpPr/>
          <p:nvPr/>
        </p:nvSpPr>
        <p:spPr>
          <a:xfrm>
            <a:off x="3017520" y="164520"/>
            <a:ext cx="3108600" cy="25560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DÉMONSTRATION LIVE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"/>
          <p:cNvSpPr/>
          <p:nvPr/>
        </p:nvSpPr>
        <p:spPr>
          <a:xfrm>
            <a:off x="365760" y="54864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Accédez à l'application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"/>
          <p:cNvSpPr/>
          <p:nvPr/>
        </p:nvSpPr>
        <p:spPr>
          <a:xfrm>
            <a:off x="365760" y="106056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AAAAA"/>
                </a:solidFill>
                <a:effectLst/>
                <a:uFillTx/>
                <a:latin typeface="Calibri"/>
              </a:rPr>
              <a:t>Cliquez pour ouvrir directement dans le navigateur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3"/>
          <p:cNvSpPr/>
          <p:nvPr/>
        </p:nvSpPr>
        <p:spPr>
          <a:xfrm>
            <a:off x="1737360" y="1536120"/>
            <a:ext cx="5668920" cy="932400"/>
          </a:xfrm>
          <a:prstGeom prst="rect">
            <a:avLst/>
          </a:prstGeom>
          <a:solidFill>
            <a:srgbClr val="252525"/>
          </a:solidFill>
          <a:ln w="12700">
            <a:solidFill>
              <a:srgbClr val="44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4"/>
          <p:cNvSpPr/>
          <p:nvPr/>
        </p:nvSpPr>
        <p:spPr>
          <a:xfrm>
            <a:off x="1874520" y="1737360"/>
            <a:ext cx="566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📝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5"/>
          <p:cNvSpPr/>
          <p:nvPr/>
        </p:nvSpPr>
        <p:spPr>
          <a:xfrm>
            <a:off x="2560320" y="160920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AAAA"/>
                </a:solidFill>
                <a:effectLst/>
                <a:uFillTx/>
                <a:latin typeface="Calibri"/>
              </a:rPr>
              <a:t>Formulaire de déclaration publique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6">
            <a:hlinkClick r:id="rId1"/>
          </p:cNvPr>
          <p:cNvSpPr/>
          <p:nvPr/>
        </p:nvSpPr>
        <p:spPr>
          <a:xfrm>
            <a:off x="2560320" y="1938600"/>
            <a:ext cx="4571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sng" strike="noStrike">
                <a:solidFill>
                  <a:srgbClr val="FFFFFF"/>
                </a:solidFill>
                <a:effectLst/>
                <a:uFillTx/>
                <a:latin typeface="Calibri"/>
                <a:hlinkClick r:id="rId2"/>
              </a:rPr>
              <a:t>https://formation-sav.fr/NC/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7"/>
          <p:cNvSpPr/>
          <p:nvPr/>
        </p:nvSpPr>
        <p:spPr>
          <a:xfrm>
            <a:off x="7040880" y="181980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→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8"/>
          <p:cNvSpPr/>
          <p:nvPr/>
        </p:nvSpPr>
        <p:spPr>
          <a:xfrm>
            <a:off x="1737360" y="2633400"/>
            <a:ext cx="5668920" cy="932400"/>
          </a:xfrm>
          <a:prstGeom prst="rect">
            <a:avLst/>
          </a:prstGeom>
          <a:solidFill>
            <a:srgbClr val="252525"/>
          </a:solidFill>
          <a:ln w="12700">
            <a:solidFill>
              <a:srgbClr val="44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9"/>
          <p:cNvSpPr/>
          <p:nvPr/>
        </p:nvSpPr>
        <p:spPr>
          <a:xfrm>
            <a:off x="1874520" y="2834640"/>
            <a:ext cx="566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🖥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0"/>
          <p:cNvSpPr/>
          <p:nvPr/>
        </p:nvSpPr>
        <p:spPr>
          <a:xfrm>
            <a:off x="2560320" y="270648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AAAA"/>
                </a:solidFill>
                <a:effectLst/>
                <a:uFillTx/>
                <a:latin typeface="Calibri"/>
              </a:rPr>
              <a:t>Console administrateur — tableau de bord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1">
            <a:hlinkClick r:id="rId3"/>
          </p:cNvPr>
          <p:cNvSpPr/>
          <p:nvPr/>
        </p:nvSpPr>
        <p:spPr>
          <a:xfrm>
            <a:off x="2560320" y="3035880"/>
            <a:ext cx="4571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sng" strike="noStrike">
                <a:solidFill>
                  <a:srgbClr val="FFFFFF"/>
                </a:solidFill>
                <a:effectLst/>
                <a:uFillTx/>
                <a:latin typeface="Calibri"/>
                <a:hlinkClick r:id="rId4"/>
              </a:rPr>
              <a:t>https://formation-sav.fr/NC/console.html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2"/>
          <p:cNvSpPr/>
          <p:nvPr/>
        </p:nvSpPr>
        <p:spPr>
          <a:xfrm>
            <a:off x="7040880" y="291708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→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3"/>
          <p:cNvSpPr/>
          <p:nvPr/>
        </p:nvSpPr>
        <p:spPr>
          <a:xfrm>
            <a:off x="1737360" y="3730680"/>
            <a:ext cx="5668920" cy="932400"/>
          </a:xfrm>
          <a:prstGeom prst="rect">
            <a:avLst/>
          </a:prstGeom>
          <a:solidFill>
            <a:srgbClr val="252525"/>
          </a:solidFill>
          <a:ln w="12700">
            <a:solidFill>
              <a:srgbClr val="44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4"/>
          <p:cNvSpPr/>
          <p:nvPr/>
        </p:nvSpPr>
        <p:spPr>
          <a:xfrm>
            <a:off x="1874520" y="3931920"/>
            <a:ext cx="566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🔐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5"/>
          <p:cNvSpPr/>
          <p:nvPr/>
        </p:nvSpPr>
        <p:spPr>
          <a:xfrm>
            <a:off x="2560320" y="38037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AAAA"/>
                </a:solidFill>
                <a:effectLst/>
                <a:uFillTx/>
                <a:latin typeface="Calibri"/>
              </a:rPr>
              <a:t>Connexion administrateur / pilote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6">
            <a:hlinkClick r:id="rId5"/>
          </p:cNvPr>
          <p:cNvSpPr/>
          <p:nvPr/>
        </p:nvSpPr>
        <p:spPr>
          <a:xfrm>
            <a:off x="2560320" y="4133160"/>
            <a:ext cx="4571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sng" strike="noStrike">
                <a:solidFill>
                  <a:srgbClr val="FFFFFF"/>
                </a:solidFill>
                <a:effectLst/>
                <a:uFillTx/>
                <a:latin typeface="Calibri"/>
                <a:hlinkClick r:id="rId6"/>
              </a:rPr>
              <a:t>https://formation-sav.fr/NC/login.html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7"/>
          <p:cNvSpPr/>
          <p:nvPr/>
        </p:nvSpPr>
        <p:spPr>
          <a:xfrm>
            <a:off x="7040880" y="401436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→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/>
          <p:nvPr/>
        </p:nvSpPr>
        <p:spPr>
          <a:xfrm>
            <a:off x="365760" y="777240"/>
            <a:ext cx="841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💬</a:t>
            </a:r>
            <a:endParaRPr lang="fr-FR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"/>
          <p:cNvSpPr/>
          <p:nvPr/>
        </p:nvSpPr>
        <p:spPr>
          <a:xfrm>
            <a:off x="365760" y="171900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Questions ?</a:t>
            </a:r>
            <a:endParaRPr lang="fr-FR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"/>
          <p:cNvSpPr/>
          <p:nvPr/>
        </p:nvSpPr>
        <p:spPr>
          <a:xfrm>
            <a:off x="4005000" y="2633400"/>
            <a:ext cx="1133640" cy="7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3"/>
          <p:cNvSpPr/>
          <p:nvPr/>
        </p:nvSpPr>
        <p:spPr>
          <a:xfrm>
            <a:off x="365760" y="2853000"/>
            <a:ext cx="84121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NC Manager — développé en interne pour Muller Automotive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Conformité ISO 9001:2015 · LNE · 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4"/>
          <p:cNvSpPr/>
          <p:nvPr/>
        </p:nvSpPr>
        <p:spPr>
          <a:xfrm>
            <a:off x="365760" y="382212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CCCC"/>
                </a:solidFill>
                <a:effectLst/>
                <a:uFillTx/>
                <a:latin typeface="Calibri"/>
              </a:rPr>
              <a:t>Pour toute question : contacter le service Qualité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LibreOffice/26.2.2.2$Windows_X86_64 LibreOffice_project/1f77d10d6938fd34972958f64b2bcfa54f8b1ba5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2026-05-03T13:52:55Z</dcterms:created>
  <dc:creator>PptxGenJS</dc:creator>
  <dc:description/>
  <dc:language>fr-FR</dc:language>
  <cp:lastModifiedBy/>
  <dcterms:modified xsi:type="dcterms:W3CDTF">2026-05-03T16:08:34Z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